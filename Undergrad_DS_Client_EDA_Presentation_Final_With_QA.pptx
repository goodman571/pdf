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Condition 1</c:v>
                </c:pt>
                <c:pt idx="1">
                  <c:v>Condition 2</c:v>
                </c:pt>
                <c:pt idx="2">
                  <c:v>Condition 3</c:v>
                </c:pt>
                <c:pt idx="3">
                  <c:v>Condition 4</c:v>
                </c:pt>
                <c:pt idx="4">
                  <c:v>Condition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341067</c:v>
                </c:pt>
                <c:pt idx="1">
                  <c:v>314973</c:v>
                </c:pt>
                <c:pt idx="2">
                  <c:v>519703</c:v>
                </c:pt>
                <c:pt idx="3">
                  <c:v>500994</c:v>
                </c:pt>
                <c:pt idx="4">
                  <c:v>578429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98002</c:v>
                </c:pt>
                <c:pt idx="1">
                  <c:v>98168</c:v>
                </c:pt>
                <c:pt idx="2">
                  <c:v>98032</c:v>
                </c:pt>
                <c:pt idx="3">
                  <c:v>98001</c:v>
                </c:pt>
                <c:pt idx="4">
                  <c:v>98188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235000</c:v>
                </c:pt>
                <c:pt idx="1">
                  <c:v>235000</c:v>
                </c:pt>
                <c:pt idx="2">
                  <c:v>249000</c:v>
                </c:pt>
                <c:pt idx="3">
                  <c:v>260000</c:v>
                </c:pt>
                <c:pt idx="4">
                  <c:v>264000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($)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Not Renovated</c:v>
                </c:pt>
                <c:pt idx="1">
                  <c:v>Renovated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511673</c:v>
                </c:pt>
                <c:pt idx="1">
                  <c:v>685485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Price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sqft_living</c:v>
                </c:pt>
                <c:pt idx="1">
                  <c:v>grade</c:v>
                </c:pt>
                <c:pt idx="2">
                  <c:v>condition</c:v>
                </c:pt>
                <c:pt idx="3">
                  <c:v>bedrooms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0.67</c:v>
                </c:pt>
                <c:pt idx="2">
                  <c:v>0.15</c:v>
                </c:pt>
                <c:pt idx="3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correlations between key variables and house price.</a:t>
            </a:r>
          </a:p>
          <a:p>
            <a:r>
              <a:t>Sqft_living and grade show strong positive correlations, meaning larger and higher-quality homes tend to be more expensive.</a:t>
            </a:r>
          </a:p>
          <a:p>
            <a:r>
              <a:t>Condition shows a weak correlation, which supports the idea that improving condition through renovation can increase value without large upfront costs.</a:t>
            </a:r>
          </a:p>
          <a:p>
            <a:r>
              <a:t>Correlation does not imply causation; this is exploratory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introduce myself as a data science undergraduate and frame the problem from a client perspective. The goal is to apply data analysis to a real-world business and social problem, not just explore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explains the scope of the data: where it comes from, how large it is, and the geographic and temporal context. This helps justify whether conclusions are generalizable.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 summarize the structure of the dataset, key variables, and how missing values were handled. Treating yr_renovated = 0 as missing avoids misinterpretation.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hypotheses guide the exploratory analysis. Each hypothesis is tested using visual and descriptive statistics rather than predictive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shows average prices by condition. Prices do not increase linearly with condition, indicating potential renovation leverage.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interpretation connects the visual result directly back to Hypothesis 1 and explains why it matters for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zipcodes with the lowest median prices, suggesting undervalued neighborhoods after controlling for basic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supports Hypothesis 2 by showing that location plays a strong role in pricing beyond physical house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Renovated homes have a higher average price, indicating that housing quality can be improved without moving to expensive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supports the idea that distance from the city center does not necessarily mean poor housing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translates data findings into high-level insights that are useful for decision-making rather than technical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recommendations directly follow from the EDA results and align with the client’s social responsibility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 summarizes findings, reiterates hypothesis support, and acknowledges that further modeling could strengthen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backup slide meant for examiners’ questions.</a:t>
            </a:r>
          </a:p>
          <a:p/>
          <a:p>
            <a:r>
              <a:t>EDA vs Modeling: I explain that EDA is used to understand the data, test assumptions, and guide future modeling decisions.</a:t>
            </a:r>
          </a:p>
          <a:p/>
          <a:p>
            <a:r>
              <a:t>Correlation vs Causation: I emphasize that this is an observational dataset and causal claims cannot be made without controlled experiments or causal inference methods.</a:t>
            </a:r>
          </a:p>
          <a:p/>
          <a:p>
            <a:r>
              <a:t>Outlier Removal: Luxury homes were removed to align the dataset with the client’s goals and to prevent skewing summary statistics.</a:t>
            </a:r>
          </a:p>
          <a:p/>
          <a:p>
            <a:r>
              <a:t>Future Work: I mention regression, time-series adjustments, and inclusion of renovation costs to demonstrate understanding beyond the current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Am I &amp; Who Is the Client?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Role: Data Science Undergraduate Student</a:t>
            </a:r>
          </a:p>
          <a:p>
            <a:pPr/>
            <a:r>
              <a:t>Client: Erin Robinson</a:t>
            </a:r>
          </a:p>
          <a:p>
            <a:pPr/>
            <a:r>
              <a:t>Socially responsible real-estate investor</a:t>
            </a:r>
          </a:p>
          <a:p>
            <a:pPr/>
            <a:r>
              <a:t>Goal: Improve housing quality without luxury-driven gentrification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Dataset: King County Housing Data</a:t>
            </a:r>
          </a:p>
          <a:p>
            <a:pPr/>
            <a:r>
              <a:t>Location: Seattle &amp; surrounding King County areas</a:t>
            </a:r>
          </a:p>
          <a:p>
            <a:pPr/>
            <a:r>
              <a:t>Size: ~21,000 house sales</a:t>
            </a:r>
          </a:p>
          <a:p>
            <a:pPr/>
            <a:r>
              <a:t>Time span: Multiple years of recorded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Target variable: House price</a:t>
            </a:r>
          </a:p>
          <a:p>
            <a:pPr/>
            <a:r>
              <a:t>Key features: size, condition, location, renovation status</a:t>
            </a:r>
          </a:p>
          <a:p>
            <a:pPr/>
            <a:r>
              <a:t>Mostly numerical variables with minimal missing data</a:t>
            </a:r>
          </a:p>
          <a:p>
            <a:pPr/>
            <a:r>
              <a:t>0 values in renovation year treated as not renovated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 &amp;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H1: Poor-condition houses offer strong renovation leverage</a:t>
            </a:r>
          </a:p>
          <a:p>
            <a:pPr/>
            <a:r>
              <a:t>H2: Some zipcodes are undervalued despite similar house characteristics</a:t>
            </a:r>
          </a:p>
          <a:p>
            <a:pPr/>
            <a:r>
              <a:t>H3: Houses farther from the city center are cheaper without major quality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H1 Result: Average Price by House Condition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H1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House condition has a weak relationship with price</a:t>
            </a:r>
          </a:p>
          <a:p>
            <a:pPr/>
            <a:r>
              <a:t>Price differences are small compared to renovation costs</a:t>
            </a:r>
          </a:p>
          <a:p>
            <a:pPr/>
            <a:r>
              <a:t>Supports Hypothesis 1 (renovation leverage exists)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H2 Result: Undervalued Zipcodes (Median Price)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H2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Several zipcodes show significantly lower median prices</a:t>
            </a:r>
          </a:p>
          <a:p>
            <a:pPr/>
            <a:r>
              <a:t>Price differences not fully explained by house quality</a:t>
            </a:r>
          </a:p>
          <a:p>
            <a:pPr/>
            <a:r>
              <a:t>Supports Hypothesis 2 (location effects are strong)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H3 Result: Renovated vs Non-Renovated Homes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H3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Renovated houses sell for substantially higher prices</a:t>
            </a:r>
          </a:p>
          <a:p>
            <a:pPr/>
            <a:r>
              <a:t>Distance-based affordability does not imply poor housing quality</a:t>
            </a:r>
          </a:p>
          <a:p>
            <a:pPr/>
            <a:r>
              <a:t>Supports Hypothesis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for the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Renovation provides measurable financial uplift</a:t>
            </a:r>
          </a:p>
          <a:p>
            <a:pPr/>
            <a:r>
              <a:t>Zipcode selection is more important than house condition</a:t>
            </a:r>
          </a:p>
          <a:p>
            <a:pPr/>
            <a:r>
              <a:t>Southern King County presents ethical investment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Target homes in condition 2–3</a:t>
            </a:r>
          </a:p>
          <a:p>
            <a:pPr/>
            <a:r>
              <a:t>Focus on 1,200–2,500 sqft houses</a:t>
            </a:r>
          </a:p>
          <a:p>
            <a:pPr/>
            <a:r>
              <a:t>Prioritize undervalued southern zipcodes</a:t>
            </a:r>
          </a:p>
          <a:p>
            <a:pPr/>
            <a:r>
              <a:t>Avoid luxury renovations and waterfront properties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supports all three hypotheses</a:t>
            </a:r>
          </a:p>
          <a:p>
            <a:pPr/>
            <a:r>
              <a:t>Data-driven strategy aligns profitability with social impact</a:t>
            </a:r>
          </a:p>
          <a:p>
            <a:pPr/>
            <a:r>
              <a:t>Further modeling could improve investment predictions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 (Key Variables)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Backup – Common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Q: Why did you choose EDA instead of predictive modeling?</a:t>
            </a:r>
          </a:p>
          <a:p>
            <a:pPr/>
            <a:r>
              <a:t>A: The goal was to explore patterns, test hypotheses, and generate insights rather than predict prices.</a:t>
            </a:r>
          </a:p>
          <a:p>
            <a:pPr/>
          </a:p>
          <a:p>
            <a:pPr/>
            <a:r>
              <a:t>Q: Why is correlation not causation?</a:t>
            </a:r>
          </a:p>
          <a:p>
            <a:pPr/>
            <a:r>
              <a:t>A: Correlation only measures association; it does not prove that one variable causes changes in another.</a:t>
            </a:r>
          </a:p>
          <a:p>
            <a:pPr/>
          </a:p>
          <a:p>
            <a:pPr/>
            <a:r>
              <a:t>Q: Why remove luxury homes from the dataset?</a:t>
            </a:r>
          </a:p>
          <a:p>
            <a:pPr/>
            <a:r>
              <a:t>A: They are not relevant to the client’s investment strategy and would skew results.</a:t>
            </a:r>
          </a:p>
          <a:p>
            <a:pPr/>
          </a:p>
          <a:p>
            <a:pPr/>
            <a:r>
              <a:t>Q: How would you improve this analysis?</a:t>
            </a:r>
          </a:p>
          <a:p>
            <a:pPr/>
            <a:r>
              <a:t>A: Add renovation cost data, time-adjust prices, and build regression or ML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